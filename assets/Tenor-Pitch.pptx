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5800" b="1">
                <a:solidFill>
                  <a:srgbClr val="E10098"/>
                </a:solidFill>
                <a:latin typeface="Georgia"/>
              </a:rPr>
              <a:t>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200" b="1" i="0">
                <a:solidFill>
                  <a:srgbClr val="F5F2F8"/>
                </a:solidFill>
                <a:latin typeface="Georgia"/>
              </a:rPr>
              <a:t>The fixed rate market for Stellar.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9A94A8"/>
                </a:solidFill>
                <a:latin typeface="Helvetica Neue"/>
              </a:rPr>
              <a:t>Split any yield-bearing asset into a fixed-return token and a rate you can trade.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E4FF86"/>
                </a:solidFill>
                <a:latin typeface="Helvetica Neue"/>
              </a:rPr>
              <a:t>Bonds for Stellar DeFi  ·  live on mainnet with real Ondo USDY.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Every yield on Stellar floats.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492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F5F2F8"/>
                </a:solidFill>
                <a:latin typeface="Helvetica Neue"/>
              </a:rPr>
              <a:t>Blend, DeFindex, and tokenized treasuries brought real yield to Stellar — and RWAs grew over 100% last year.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But every bit of it is floating. A saver never knows what next week pays.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No way to lock a rate. No way to buy a guaranteed return. No way to trade the rate itself.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The entire interest-rate layer — what serious savers and institutions need — is empty on Stellar.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517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971800"/>
            <a:ext cx="292608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C6F24E"/>
                </a:solidFill>
                <a:latin typeface="Georgia"/>
              </a:rPr>
              <a:t>+100%</a:t>
            </a:r>
          </a:p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9A94A8"/>
                </a:solidFill>
                <a:latin typeface="Helvetica Neue"/>
              </a:rPr>
              <a:t>growth in Stellar real-world assets last year — capital that wants fixed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Split it into principal and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4480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C6780"/>
                </a:solidFill>
                <a:latin typeface="Helvetica Neue"/>
              </a:rPr>
              <a:t>PT — principal token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E4FF86"/>
                </a:solidFill>
                <a:latin typeface="Georgia"/>
              </a:rPr>
              <a:t>Redeems 1.00 at maturity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A94A8"/>
                </a:solidFill>
                <a:latin typeface="Helvetica Neue"/>
              </a:rPr>
              <a:t>Bought at a discount today → a locked, fixed return. For savers.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517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4480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C6780"/>
                </a:solidFill>
                <a:latin typeface="Helvetica Neue"/>
              </a:rPr>
              <a:t>YT — yield token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54C6"/>
                </a:solidFill>
                <a:latin typeface="Georgia"/>
              </a:rPr>
              <a:t>Streams all the yield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9A94A8"/>
                </a:solidFill>
                <a:latin typeface="Helvetica Neue"/>
              </a:rPr>
              <a:t>A pure position on the interest rate. For traders.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9A94A8"/>
                </a:solidFill>
                <a:latin typeface="Menlo"/>
              </a:rPr>
              <a:t>PT(x) + YT(x) = x   ·   principal and yield always recombine into the original asset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Three composable layers on Soroban.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2608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4FF86"/>
                </a:solidFill>
                <a:latin typeface="Georgia"/>
              </a:rPr>
              <a:t>1  Tokenizer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9A94A8"/>
                </a:solidFill>
                <a:latin typeface="Helvetica Neue"/>
              </a:rPr>
              <a:t>Deposit a yield-bearing asset, mint equal PT and YT. Yield streams to YT with an accumulator; principal redeems at maturity.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7992" y="265176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292608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FF54C6"/>
                </a:solidFill>
                <a:latin typeface="Georgia"/>
              </a:rPr>
              <a:t>2  Time-decay AMM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9A94A8"/>
                </a:solidFill>
                <a:latin typeface="Helvetica Neue"/>
              </a:rPr>
              <a:t>Prices PT against USDC with a pull-to-par curve, so the implied fixed rate stays stable and PT lands at par by maturity.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265176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92608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C6F24E"/>
                </a:solidFill>
                <a:latin typeface="Georgia"/>
              </a:rPr>
              <a:t>3  Carry vault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 i="0">
                <a:solidFill>
                  <a:srgbClr val="9A94A8"/>
                </a:solidFill>
                <a:latin typeface="Helvetica Neue"/>
              </a:rPr>
              <a:t>One deposit: buys the cheapest principal, holds to maturity, redeems at par. The quant strategy, one click.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Lock a fixed rate in a couple of clicks.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400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F5F2F8"/>
                </a:solidFill>
                <a:latin typeface="Helvetica Neue"/>
              </a:rPr>
              <a:t>Connect Freighter, and lock a fixed rate, split yield, or run the carry vault — on one screen.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Every number — fixed rate, PT price, pool liquidity, balances — is read straight from the contract. Nothing mocked.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A live analytics page charts real Stellar yields against the Tenor fixed rate. Full docs on Mintlify.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517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3017520"/>
            <a:ext cx="292608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600" b="1" i="0">
                <a:solidFill>
                  <a:srgbClr val="E4FF86"/>
                </a:solidFill>
                <a:latin typeface="Georgia"/>
              </a:rPr>
              <a:t>9.78%</a:t>
            </a:r>
          </a:p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9A94A8"/>
                </a:solidFill>
                <a:latin typeface="Helvetica Neue"/>
              </a:rPr>
              <a:t>live fixed rate on the interactive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REAL YIELD, ON-CHAIN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The rate tracks live Stellar yield.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F5F2F8"/>
                </a:solidFill>
                <a:latin typeface="Helvetica Neue"/>
              </a:rPr>
              <a:t>A keeper reads Blend’s live USDC lending rate from DeFiLlama and pushes it on-chain via sync — so the market’s yield tracks a real source, not a hand-typed number.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9A94A8"/>
                </a:solidFill>
                <a:latin typeface="Helvetica Neue"/>
              </a:rPr>
              <a:t>The analytics page charts the same live Blend and Ondo yields against the flat Tenor fixed rate, refreshed hourly.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517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3017520"/>
            <a:ext cx="292608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4600" b="1" i="0">
                <a:solidFill>
                  <a:srgbClr val="57E08A"/>
                </a:solidFill>
                <a:latin typeface="Georgia"/>
              </a:rPr>
              <a:t>7.99%</a:t>
            </a:r>
          </a:p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9A94A8"/>
                </a:solidFill>
                <a:latin typeface="Helvetica Neue"/>
              </a:rPr>
              <a:t>live Blend USDC APY driving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E4FF86"/>
                </a:solidFill>
                <a:latin typeface="Helvetica Neue"/>
              </a:rPr>
              <a:t>LIVE ON STELLAR MAINNET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Deployed with real assets. Hardened.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6400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700" b="0" i="0">
                <a:solidFill>
                  <a:srgbClr val="F5F2F8"/>
                </a:solidFill>
                <a:latin typeface="Helvetica Neue"/>
              </a:rPr>
              <a:t>The tokenizer is live on Stellar mainnet, splitting real Ondo USDY against real Circle USDC.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 i="0">
                <a:solidFill>
                  <a:srgbClr val="9A94A8"/>
                </a:solidFill>
                <a:latin typeface="Helvetica Neue"/>
              </a:rPr>
              <a:t>The hardened build — bounded oracle, emergency pause, deposit cap, admin rotation — is live and tested on testnet, closing the drain-vector class of risk before real deposits.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C6780"/>
                </a:solidFill>
                <a:latin typeface="Helvetica Neue"/>
              </a:rPr>
              <a:t>Mainnet contract: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E4FF86"/>
                </a:solidFill>
                <a:latin typeface="Menlo"/>
              </a:rPr>
              <a:t>CDZFACPLN7EDI55KU4OOSFWTD56DM4GVAUZJ6CMOUQTFKYUQ2BWFQVZI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606040"/>
            <a:ext cx="3566160" cy="27432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8803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6C6780"/>
                </a:solidFill>
                <a:latin typeface="Helvetica Neue"/>
              </a:rPr>
              <a:t>On-chain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5F2F8"/>
                </a:solidFill>
                <a:latin typeface="Helvetica Neue"/>
              </a:rPr>
              <a:t>✓  Real USDY underlying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5F2F8"/>
                </a:solidFill>
                <a:latin typeface="Helvetica Neue"/>
              </a:rPr>
              <a:t>✓  Real Circle USDC quote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5F2F8"/>
                </a:solidFill>
                <a:latin typeface="Helvetica Neue"/>
              </a:rPr>
              <a:t>✓  15 tests passing, clippy clean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5F2F8"/>
                </a:solidFill>
                <a:latin typeface="Helvetica Neue"/>
              </a:rPr>
              <a:t>✓  Single ~20 KB Soroban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WHY STELLAR NEEDS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A primitive that lifts the whole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332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0" i="0">
                <a:solidFill>
                  <a:srgbClr val="F5F2F8"/>
                </a:solidFill>
                <a:latin typeface="Helvetica Neue"/>
              </a:rPr>
              <a:t>Stellar is betting on real-world assets and stablecoin yield — but that capital moves for fixed rates it can model and hedge, not floating ones.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800" b="0" i="0">
                <a:solidFill>
                  <a:srgbClr val="9A94A8"/>
                </a:solidFill>
                <a:latin typeface="Helvetica Neue"/>
              </a:rPr>
              <a:t>Tenor turns Blend positions, DeFindex shares, and tokenized treasuries into fixed-rate instruments, gives them a yield market, and deepens liquidity across all of them.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0" i="0">
                <a:solidFill>
                  <a:srgbClr val="E4FF86"/>
                </a:solidFill>
                <a:latin typeface="Helvetica Neue"/>
              </a:rPr>
              <a:t>Filling the empty interest-rate layer is one of the highest-leverage things that can be built on Stellar right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ROADMAP &amp;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Grant → audit → liquidity.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52928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4FF86"/>
                </a:solidFill>
                <a:latin typeface="Georgia"/>
              </a:rPr>
              <a:t>Now    </a:t>
            </a:r>
            <a:r>
              <a:rPr sz="1500">
                <a:solidFill>
                  <a:srgbClr val="9A94A8"/>
                </a:solidFill>
                <a:latin typeface="Helvetica Neue"/>
              </a:rPr>
              <a:t>Live on mainnet, hardened build on testnet, real-yield keeper running.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04487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FF54C6"/>
                </a:solidFill>
                <a:latin typeface="Georgia"/>
              </a:rPr>
              <a:t>Next    </a:t>
            </a:r>
            <a:r>
              <a:rPr sz="1500">
                <a:solidFill>
                  <a:srgbClr val="9A94A8"/>
                </a:solidFill>
                <a:latin typeface="Helvetica Neue"/>
              </a:rPr>
              <a:t>SCF Build Award → free Soroban Audit Bank audit → 2-of-3 multisig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79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71622"/>
          </a:solidFill>
          <a:ln w="9525">
            <a:solidFill>
              <a:srgbClr val="2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56048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C6F24E"/>
                </a:solidFill>
                <a:latin typeface="Georgia"/>
              </a:rPr>
              <a:t>Then    </a:t>
            </a:r>
            <a:r>
              <a:rPr sz="1500">
                <a:solidFill>
                  <a:srgbClr val="9A94A8"/>
                </a:solidFill>
                <a:latin typeface="Helvetica Neue"/>
              </a:rPr>
              <a:t>Seed real liquidity, add Blend &amp; DeFindex underlyings, list more maturities.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5F2F8"/>
                </a:solidFill>
                <a:latin typeface="Helvetica Neue"/>
              </a:rPr>
              <a:t>The ask: an SCF Build Award — it funds the audit and the mainnet launch. Deploy cost is measured; ~250 XLM keeps a market live for a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6400800" cy="5486400"/>
          </a:xfrm>
          <a:prstGeom prst="ellipse">
            <a:avLst/>
          </a:prstGeom>
          <a:solidFill>
            <a:srgbClr val="2A0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194560"/>
            <a:ext cx="5486400" cy="4572000"/>
          </a:xfrm>
          <a:prstGeom prst="ellipse">
            <a:avLst/>
          </a:prstGeom>
          <a:solidFill>
            <a:srgbClr val="1A22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spc="180">
                <a:solidFill>
                  <a:srgbClr val="FF54C6"/>
                </a:solidFill>
                <a:latin typeface="Helvetica Neue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5F2F8"/>
                </a:solidFill>
                <a:latin typeface="Georgia"/>
              </a:rPr>
              <a:t>Everything is live and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332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5F2F8"/>
                </a:solidFill>
                <a:latin typeface="Helvetica Neue"/>
              </a:rPr>
              <a:t>Live app          </a:t>
            </a:r>
            <a:r>
              <a:rPr sz="1700">
                <a:solidFill>
                  <a:srgbClr val="E4FF86"/>
                </a:solidFill>
                <a:latin typeface="Menlo"/>
              </a:rPr>
              <a:t>  tenor-blond-xi.vercel.app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5F2F8"/>
                </a:solidFill>
                <a:latin typeface="Helvetica Neue"/>
              </a:rPr>
              <a:t>Docs              </a:t>
            </a:r>
            <a:r>
              <a:rPr sz="1700">
                <a:solidFill>
                  <a:srgbClr val="E4FF86"/>
                </a:solidFill>
                <a:latin typeface="Menlo"/>
              </a:rPr>
              <a:t>  tenor-421719bc.mintlify.site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5F2F8"/>
                </a:solidFill>
                <a:latin typeface="Helvetica Neue"/>
              </a:rPr>
              <a:t>GitHub            </a:t>
            </a:r>
            <a:r>
              <a:rPr sz="1700">
                <a:solidFill>
                  <a:srgbClr val="E4FF86"/>
                </a:solidFill>
                <a:latin typeface="Menlo"/>
              </a:rPr>
              <a:t>  github.com/Hijanhv/tenor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5F2F8"/>
                </a:solidFill>
                <a:latin typeface="Helvetica Neue"/>
              </a:rPr>
              <a:t>X / Twitter       </a:t>
            </a:r>
            <a:r>
              <a:rPr sz="1700">
                <a:solidFill>
                  <a:srgbClr val="E4FF86"/>
                </a:solidFill>
                <a:latin typeface="Menlo"/>
              </a:rPr>
              <a:t>  x.com/tenor_stellar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5F2F8"/>
                </a:solidFill>
                <a:latin typeface="Helvetica Neue"/>
              </a:rPr>
              <a:t>Mainnet contract  </a:t>
            </a:r>
            <a:r>
              <a:rPr sz="1700">
                <a:solidFill>
                  <a:srgbClr val="E4FF86"/>
                </a:solidFill>
                <a:latin typeface="Menlo"/>
              </a:rPr>
              <a:t>  CDZFACPL…QVZI on stellar.expert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1">
                <a:solidFill>
                  <a:srgbClr val="9A94A8"/>
                </a:solidFill>
                <a:latin typeface="Georgia"/>
              </a:rPr>
              <a:t>Tenor — the fixed rate market Stellar was missing.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E10098"/>
                </a:solidFill>
                <a:latin typeface="Georgia"/>
              </a:rPr>
              <a:t>♈ </a:t>
            </a:r>
            <a:r>
              <a:rPr sz="1800" b="1">
                <a:solidFill>
                  <a:srgbClr val="F5F2F8"/>
                </a:solidFill>
                <a:latin typeface="Georgia"/>
              </a:rPr>
              <a:t>Tenor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Helvetica Neue"/>
              </a:rPr>
              <a:t>The fixed rate market for Stellar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190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C6780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